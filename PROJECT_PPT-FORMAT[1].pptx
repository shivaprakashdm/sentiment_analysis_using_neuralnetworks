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22"/>
  </p:notesMasterIdLst>
  <p:sldIdLst>
    <p:sldId id="256" r:id="rId2"/>
    <p:sldId id="258" r:id="rId3"/>
    <p:sldId id="259" r:id="rId4"/>
    <p:sldId id="260" r:id="rId5"/>
    <p:sldId id="261" r:id="rId6"/>
    <p:sldId id="262" r:id="rId7"/>
    <p:sldId id="265" r:id="rId8"/>
    <p:sldId id="264" r:id="rId9"/>
    <p:sldId id="263" r:id="rId10"/>
    <p:sldId id="282" r:id="rId11"/>
    <p:sldId id="269" r:id="rId12"/>
    <p:sldId id="268" r:id="rId13"/>
    <p:sldId id="270" r:id="rId14"/>
    <p:sldId id="271" r:id="rId15"/>
    <p:sldId id="273" r:id="rId16"/>
    <p:sldId id="274" r:id="rId17"/>
    <p:sldId id="275" r:id="rId18"/>
    <p:sldId id="276" r:id="rId19"/>
    <p:sldId id="281" r:id="rId20"/>
    <p:sldId id="28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84FF00"/>
    <a:srgbClr val="0B2546"/>
    <a:srgbClr val="E83C3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67F22-2B0D-95EE-B635-311EB73FB272}" v="155" dt="2022-11-14T17:49:42.536"/>
    <p1510:client id="{10AC5B81-9C6D-30A6-E515-68F431AACD5A}" v="485" dt="2022-11-10T15:48:09.694"/>
    <p1510:client id="{21DCEE16-1129-2676-84D6-BF0033646C1F}" v="153" dt="2022-11-06T15:43:49.504"/>
    <p1510:client id="{34F3FDCB-FE29-6E73-8C35-D39CFEE2520E}" v="708" dt="2022-11-10T17:03:58.532"/>
    <p1510:client id="{9490F53D-C9A4-5292-4352-1625486F9710}" v="1382" dt="2022-11-13T18:37:54.244"/>
    <p1510:client id="{A5DD1E6C-0726-96BD-C6CB-57B766A45860}" v="3" dt="2022-11-15T21:15:34.2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1300" y="-10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Suhaim Sami" userId="S::21c01093@presidency.edu.in::d8496af3-8a97-4421-bc53-82e4b2f4b777" providerId="AD" clId="Web-{0A467F22-2B0D-95EE-B635-311EB73FB272}"/>
    <pc:docChg chg="addSld modSld sldOrd">
      <pc:chgData name="Mohammed Suhaim Sami" userId="S::21c01093@presidency.edu.in::d8496af3-8a97-4421-bc53-82e4b2f4b777" providerId="AD" clId="Web-{0A467F22-2B0D-95EE-B635-311EB73FB272}" dt="2022-11-14T17:49:42.536" v="156" actId="1076"/>
      <pc:docMkLst>
        <pc:docMk/>
      </pc:docMkLst>
      <pc:sldChg chg="modSp">
        <pc:chgData name="Mohammed Suhaim Sami" userId="S::21c01093@presidency.edu.in::d8496af3-8a97-4421-bc53-82e4b2f4b777" providerId="AD" clId="Web-{0A467F22-2B0D-95EE-B635-311EB73FB272}" dt="2022-11-14T17:06:34.226" v="154" actId="1076"/>
        <pc:sldMkLst>
          <pc:docMk/>
          <pc:sldMk cId="1365157742" sldId="256"/>
        </pc:sldMkLst>
        <pc:spChg chg="mod">
          <ac:chgData name="Mohammed Suhaim Sami" userId="S::21c01093@presidency.edu.in::d8496af3-8a97-4421-bc53-82e4b2f4b777" providerId="AD" clId="Web-{0A467F22-2B0D-95EE-B635-311EB73FB272}" dt="2022-11-14T17:06:34.210" v="153" actId="1076"/>
          <ac:spMkLst>
            <pc:docMk/>
            <pc:sldMk cId="1365157742" sldId="256"/>
            <ac:spMk id="2" creationId="{716EB6D3-232D-4F15-9314-AD9755018A74}"/>
          </ac:spMkLst>
        </pc:spChg>
        <pc:spChg chg="mod">
          <ac:chgData name="Mohammed Suhaim Sami" userId="S::21c01093@presidency.edu.in::d8496af3-8a97-4421-bc53-82e4b2f4b777" providerId="AD" clId="Web-{0A467F22-2B0D-95EE-B635-311EB73FB272}" dt="2022-11-14T17:06:34.226" v="154" actId="1076"/>
          <ac:spMkLst>
            <pc:docMk/>
            <pc:sldMk cId="1365157742" sldId="256"/>
            <ac:spMk id="3" creationId="{4A942169-089C-45D9-9F11-369806424580}"/>
          </ac:spMkLst>
        </pc:spChg>
      </pc:sldChg>
      <pc:sldChg chg="addSp delSp modSp add ord replId">
        <pc:chgData name="Mohammed Suhaim Sami" userId="S::21c01093@presidency.edu.in::d8496af3-8a97-4421-bc53-82e4b2f4b777" providerId="AD" clId="Web-{0A467F22-2B0D-95EE-B635-311EB73FB272}" dt="2022-11-14T17:49:42.536" v="156" actId="1076"/>
        <pc:sldMkLst>
          <pc:docMk/>
          <pc:sldMk cId="3037037291" sldId="271"/>
        </pc:sldMkLst>
        <pc:spChg chg="del mod">
          <ac:chgData name="Mohammed Suhaim Sami" userId="S::21c01093@presidency.edu.in::d8496af3-8a97-4421-bc53-82e4b2f4b777" providerId="AD" clId="Web-{0A467F22-2B0D-95EE-B635-311EB73FB272}" dt="2022-11-14T16:38:41.654" v="14"/>
          <ac:spMkLst>
            <pc:docMk/>
            <pc:sldMk cId="3037037291" sldId="271"/>
            <ac:spMk id="2" creationId="{E0B0ED39-939F-81D6-4F09-64F5DEBA9DB6}"/>
          </ac:spMkLst>
        </pc:spChg>
        <pc:spChg chg="del mod">
          <ac:chgData name="Mohammed Suhaim Sami" userId="S::21c01093@presidency.edu.in::d8496af3-8a97-4421-bc53-82e4b2f4b777" providerId="AD" clId="Web-{0A467F22-2B0D-95EE-B635-311EB73FB272}" dt="2022-11-14T17:01:51.534" v="16"/>
          <ac:spMkLst>
            <pc:docMk/>
            <pc:sldMk cId="3037037291" sldId="271"/>
            <ac:spMk id="3" creationId="{90B61F3D-0CC1-BF7A-AE5E-97E6DB36AFDC}"/>
          </ac:spMkLst>
        </pc:spChg>
        <pc:spChg chg="add mod">
          <ac:chgData name="Mohammed Suhaim Sami" userId="S::21c01093@presidency.edu.in::d8496af3-8a97-4421-bc53-82e4b2f4b777" providerId="AD" clId="Web-{0A467F22-2B0D-95EE-B635-311EB73FB272}" dt="2022-11-14T16:38:30.967" v="13" actId="14100"/>
          <ac:spMkLst>
            <pc:docMk/>
            <pc:sldMk cId="3037037291" sldId="271"/>
            <ac:spMk id="4" creationId="{C219EBC6-3925-ACC1-0177-1B040538995A}"/>
          </ac:spMkLst>
        </pc:spChg>
        <pc:picChg chg="add mod ord">
          <ac:chgData name="Mohammed Suhaim Sami" userId="S::21c01093@presidency.edu.in::d8496af3-8a97-4421-bc53-82e4b2f4b777" providerId="AD" clId="Web-{0A467F22-2B0D-95EE-B635-311EB73FB272}" dt="2022-11-14T17:49:42.536" v="156" actId="1076"/>
          <ac:picMkLst>
            <pc:docMk/>
            <pc:sldMk cId="3037037291" sldId="271"/>
            <ac:picMk id="5" creationId="{8524CB2D-1A7F-9053-40EB-7C8A81D0E705}"/>
          </ac:picMkLst>
        </pc:picChg>
      </pc:sldChg>
    </pc:docChg>
  </pc:docChgLst>
  <pc:docChgLst>
    <pc:chgData name="Mohammed Suhaim Sami" userId="S::21c01093@presidency.edu.in::d8496af3-8a97-4421-bc53-82e4b2f4b777" providerId="AD" clId="Web-{A5DD1E6C-0726-96BD-C6CB-57B766A45860}"/>
    <pc:docChg chg="modSld">
      <pc:chgData name="Mohammed Suhaim Sami" userId="S::21c01093@presidency.edu.in::d8496af3-8a97-4421-bc53-82e4b2f4b777" providerId="AD" clId="Web-{A5DD1E6C-0726-96BD-C6CB-57B766A45860}" dt="2022-11-15T21:15:33.156" v="1" actId="20577"/>
      <pc:docMkLst>
        <pc:docMk/>
      </pc:docMkLst>
      <pc:sldChg chg="modSp">
        <pc:chgData name="Mohammed Suhaim Sami" userId="S::21c01093@presidency.edu.in::d8496af3-8a97-4421-bc53-82e4b2f4b777" providerId="AD" clId="Web-{A5DD1E6C-0726-96BD-C6CB-57B766A45860}" dt="2022-11-15T21:15:33.156" v="1" actId="20577"/>
        <pc:sldMkLst>
          <pc:docMk/>
          <pc:sldMk cId="1365157742" sldId="256"/>
        </pc:sldMkLst>
        <pc:spChg chg="mod">
          <ac:chgData name="Mohammed Suhaim Sami" userId="S::21c01093@presidency.edu.in::d8496af3-8a97-4421-bc53-82e4b2f4b777" providerId="AD" clId="Web-{A5DD1E6C-0726-96BD-C6CB-57B766A45860}" dt="2022-11-15T21:15:33.156" v="1" actId="20577"/>
          <ac:spMkLst>
            <pc:docMk/>
            <pc:sldMk cId="1365157742" sldId="256"/>
            <ac:spMk id="3" creationId="{4A942169-089C-45D9-9F11-3698064245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CB196F-ACA2-42A4-B081-10842584F432}" type="datetimeFigureOut">
              <a:rPr lang="en-US" smtClean="0"/>
              <a:pPr/>
              <a:t>10/21/2024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466D4A-9832-42F9-BA1D-F34367F86D92}"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2362200"/>
            <a:ext cx="7772400" cy="1162050"/>
          </a:xfrm>
          <a:solidFill>
            <a:srgbClr val="000051"/>
          </a:solidFill>
        </p:spPr>
        <p:txBody>
          <a:bodyPr/>
          <a:lstStyle>
            <a:lvl1pPr>
              <a:defRPr b="1">
                <a:solidFill>
                  <a:schemeClr val="bg1"/>
                </a:solidFill>
                <a:latin typeface="Cambria" panose="020405030504060302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1295400" y="3581400"/>
            <a:ext cx="7772400" cy="762000"/>
          </a:xfrm>
          <a:solidFill>
            <a:srgbClr val="FFC000"/>
          </a:solidFill>
        </p:spPr>
        <p:txBody>
          <a:bodyPr anchor="ctr"/>
          <a:lstStyle>
            <a:lvl1pPr marL="0" indent="0" algn="l">
              <a:buNone/>
              <a:defRPr b="1">
                <a:solidFill>
                  <a:schemeClr val="tx1"/>
                </a:solidFill>
                <a:latin typeface="Cambria" panose="020405030504060302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TextBox 4"/>
          <p:cNvSpPr txBox="1"/>
          <p:nvPr/>
        </p:nvSpPr>
        <p:spPr>
          <a:xfrm>
            <a:off x="1295400" y="5105400"/>
            <a:ext cx="7848600" cy="1184940"/>
          </a:xfrm>
          <a:prstGeom prst="rect">
            <a:avLst/>
          </a:prstGeom>
          <a:noFill/>
        </p:spPr>
        <p:txBody>
          <a:bodyPr wrap="square" rtlCol="0">
            <a:spAutoFit/>
          </a:bodyPr>
          <a:lstStyle/>
          <a:p>
            <a:pPr algn="ctr">
              <a:lnSpc>
                <a:spcPts val="3300"/>
              </a:lnSpc>
            </a:pPr>
            <a:r>
              <a:rPr lang="en-IN" sz="3600" b="1"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Presidency College</a:t>
            </a:r>
          </a:p>
          <a:p>
            <a:pPr algn="ctr">
              <a:lnSpc>
                <a:spcPts val="3300"/>
              </a:lnSpc>
            </a:pPr>
            <a:r>
              <a:rPr lang="en-IN" sz="1600" b="0"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Hebbal – Kempapura, Bengaluru</a:t>
            </a:r>
            <a:r>
              <a:rPr lang="en-IN" sz="1600" b="0" baseline="0"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 – 560024</a:t>
            </a:r>
          </a:p>
          <a:p>
            <a:pPr algn="ctr">
              <a:lnSpc>
                <a:spcPct val="100000"/>
              </a:lnSpc>
            </a:pPr>
            <a:r>
              <a:rPr lang="en-IN" sz="1600" b="0" i="1" baseline="0"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www.presidencycollege.ac.in</a:t>
            </a:r>
            <a:r>
              <a:rPr lang="en-IN" sz="1600" b="0" i="1"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 </a:t>
            </a:r>
            <a:endParaRPr lang="en-US" sz="1600" b="0" i="1" dirty="0">
              <a:solidFill>
                <a:srgbClr val="000066"/>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endParaRPr>
          </a:p>
        </p:txBody>
      </p:sp>
      <p:cxnSp>
        <p:nvCxnSpPr>
          <p:cNvPr id="7" name="Straight Connector 6"/>
          <p:cNvCxnSpPr/>
          <p:nvPr/>
        </p:nvCxnSpPr>
        <p:spPr>
          <a:xfrm>
            <a:off x="3200400" y="5638800"/>
            <a:ext cx="3986350" cy="0"/>
          </a:xfrm>
          <a:prstGeom prst="line">
            <a:avLst/>
          </a:prstGeom>
          <a:ln w="38100">
            <a:solidFill>
              <a:srgbClr val="0000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614604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696199" cy="838200"/>
          </a:xfrm>
          <a:ln>
            <a:noFill/>
          </a:ln>
        </p:spPr>
        <p:txBody>
          <a:bodyPr>
            <a:normAutofit/>
          </a:bodyPr>
          <a:lstStyle>
            <a:lvl1pPr algn="l">
              <a:defRPr sz="2700"/>
            </a:lvl1pPr>
          </a:lstStyle>
          <a:p>
            <a:r>
              <a:rPr lang="en-US"/>
              <a:t>Click to edit Master title style</a:t>
            </a:r>
            <a:endParaRPr lang="en-IN" dirty="0"/>
          </a:p>
        </p:txBody>
      </p:sp>
      <p:sp>
        <p:nvSpPr>
          <p:cNvPr id="3" name="Content Placeholder 2"/>
          <p:cNvSpPr>
            <a:spLocks noGrp="1"/>
          </p:cNvSpPr>
          <p:nvPr>
            <p:ph idx="1"/>
          </p:nvPr>
        </p:nvSpPr>
        <p:spPr>
          <a:xfrm>
            <a:off x="1219200" y="1219201"/>
            <a:ext cx="7696198" cy="5257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5" name="Straight Connector 4"/>
          <p:cNvCxnSpPr/>
          <p:nvPr/>
        </p:nvCxnSpPr>
        <p:spPr>
          <a:xfrm>
            <a:off x="1219200" y="1143000"/>
            <a:ext cx="7924800" cy="0"/>
          </a:xfrm>
          <a:prstGeom prst="line">
            <a:avLst/>
          </a:prstGeom>
          <a:ln w="28575">
            <a:solidFill>
              <a:srgbClr val="00006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2" name="Rectangle 31"/>
          <p:cNvSpPr/>
          <p:nvPr/>
        </p:nvSpPr>
        <p:spPr>
          <a:xfrm>
            <a:off x="0" y="0"/>
            <a:ext cx="1219200" cy="6858000"/>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1200823" y="228600"/>
            <a:ext cx="7790777" cy="1143000"/>
          </a:xfrm>
          <a:prstGeom prst="rect">
            <a:avLst/>
          </a:prstGeom>
          <a:ln>
            <a:noFill/>
          </a:ln>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0823" y="1448475"/>
            <a:ext cx="7790777" cy="46468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 name="Straight Connector 13"/>
          <p:cNvCxnSpPr/>
          <p:nvPr/>
        </p:nvCxnSpPr>
        <p:spPr>
          <a:xfrm>
            <a:off x="1049958" y="6629738"/>
            <a:ext cx="7789242" cy="338"/>
          </a:xfrm>
          <a:prstGeom prst="line">
            <a:avLst/>
          </a:prstGeom>
          <a:ln w="228600">
            <a:solidFill>
              <a:srgbClr val="000051"/>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rot="15660000" flipH="1">
            <a:off x="8343562" y="6363038"/>
            <a:ext cx="533400" cy="533400"/>
          </a:xfrm>
          <a:prstGeom prst="triangle">
            <a:avLst>
              <a:gd name="adj" fmla="val 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Isosceles Triangle 23"/>
          <p:cNvSpPr/>
          <p:nvPr/>
        </p:nvSpPr>
        <p:spPr>
          <a:xfrm rot="15660000" flipH="1">
            <a:off x="8495962" y="6133762"/>
            <a:ext cx="533400" cy="533400"/>
          </a:xfrm>
          <a:prstGeom prst="triangle">
            <a:avLst>
              <a:gd name="adj" fmla="val 0"/>
            </a:avLst>
          </a:prstGeom>
          <a:solidFill>
            <a:srgbClr val="000050"/>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Isosceles Triangle 24"/>
          <p:cNvSpPr/>
          <p:nvPr/>
        </p:nvSpPr>
        <p:spPr>
          <a:xfrm rot="15660000" flipH="1">
            <a:off x="8374010" y="6286163"/>
            <a:ext cx="533400" cy="533400"/>
          </a:xfrm>
          <a:prstGeom prst="triangle">
            <a:avLst>
              <a:gd name="adj" fmla="val 0"/>
            </a:avLst>
          </a:prstGeom>
          <a:solidFill>
            <a:srgbClr val="FFD54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38591" y="114042"/>
            <a:ext cx="894162" cy="811950"/>
          </a:xfrm>
          <a:prstGeom prst="rect">
            <a:avLst/>
          </a:prstGeom>
        </p:spPr>
      </p:pic>
      <p:sp>
        <p:nvSpPr>
          <p:cNvPr id="4" name="TextBox 3"/>
          <p:cNvSpPr txBox="1"/>
          <p:nvPr/>
        </p:nvSpPr>
        <p:spPr>
          <a:xfrm>
            <a:off x="-46997" y="3198167"/>
            <a:ext cx="1330412" cy="461665"/>
          </a:xfrm>
          <a:prstGeom prst="rect">
            <a:avLst/>
          </a:prstGeom>
          <a:noFill/>
        </p:spPr>
        <p:txBody>
          <a:bodyPr wrap="square" rtlCol="0">
            <a:spAutoFit/>
          </a:bodyPr>
          <a:lstStyle/>
          <a:p>
            <a:pPr algn="ctr"/>
            <a:r>
              <a:rPr lang="en-IN" sz="1200" b="1" i="1" dirty="0">
                <a:solidFill>
                  <a:srgbClr val="C00000"/>
                </a:solidFill>
                <a:latin typeface="Cambria" panose="02040503050406030204" pitchFamily="18" charset="0"/>
              </a:rPr>
              <a:t>Reaccredited</a:t>
            </a:r>
            <a:r>
              <a:rPr lang="en-IN" sz="1200" b="1" i="1" baseline="0" dirty="0">
                <a:solidFill>
                  <a:srgbClr val="C00000"/>
                </a:solidFill>
                <a:latin typeface="Cambria" panose="02040503050406030204" pitchFamily="18" charset="0"/>
              </a:rPr>
              <a:t> by NAAC with A+</a:t>
            </a:r>
            <a:endParaRPr lang="en-US" sz="1200" b="1" i="1" dirty="0">
              <a:solidFill>
                <a:srgbClr val="C00000"/>
              </a:solidFill>
              <a:latin typeface="Cambria" panose="02040503050406030204" pitchFamily="18" charset="0"/>
            </a:endParaRPr>
          </a:p>
        </p:txBody>
      </p:sp>
      <p:pic>
        <p:nvPicPr>
          <p:cNvPr id="13" name="Picture 12"/>
          <p:cNvPicPr/>
          <p:nvPr/>
        </p:nvPicPr>
        <p:blipFill>
          <a:blip r:embed="rId5" cstate="print">
            <a:extLst>
              <a:ext uri="{28A0092B-C50C-407E-A947-70E740481C1C}">
                <a14:useLocalDpi xmlns:a14="http://schemas.microsoft.com/office/drawing/2010/main" xmlns="" val="0"/>
              </a:ext>
            </a:extLst>
          </a:blip>
          <a:stretch>
            <a:fillRect/>
          </a:stretch>
        </p:blipFill>
        <p:spPr>
          <a:xfrm>
            <a:off x="181311" y="5316483"/>
            <a:ext cx="838199" cy="1576133"/>
          </a:xfrm>
          <a:prstGeom prst="rect">
            <a:avLst/>
          </a:prstGeom>
        </p:spPr>
      </p:pic>
      <p:sp>
        <p:nvSpPr>
          <p:cNvPr id="15" name="Text Box 1073741934"/>
          <p:cNvSpPr txBox="1"/>
          <p:nvPr/>
        </p:nvSpPr>
        <p:spPr>
          <a:xfrm>
            <a:off x="181311" y="4876800"/>
            <a:ext cx="838201" cy="457200"/>
          </a:xfrm>
          <a:prstGeom prst="rect">
            <a:avLst/>
          </a:prstGeom>
          <a:solidFill>
            <a:schemeClr val="accent6">
              <a:lumMod val="50000"/>
            </a:schemeClr>
          </a:solidFill>
          <a:ln w="6350">
            <a:no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0"/>
              </a:spcAft>
            </a:pPr>
            <a:r>
              <a:rPr lang="en-IN" sz="1000" b="1" dirty="0">
                <a:solidFill>
                  <a:srgbClr val="FFFFFF"/>
                </a:solidFill>
                <a:effectLst/>
                <a:latin typeface="Cambria" panose="02040503050406030204" pitchFamily="18" charset="0"/>
                <a:ea typeface="Arial" panose="020B0604020202020204" pitchFamily="34" charset="0"/>
              </a:rPr>
              <a:t>Presidency    Group</a:t>
            </a:r>
            <a:endParaRPr lang="en-US" sz="1000" dirty="0">
              <a:solidFill>
                <a:srgbClr val="000000"/>
              </a:solidFill>
              <a:effectLst/>
              <a:latin typeface="Arial" panose="020B0604020202020204" pitchFamily="34" charset="0"/>
              <a:ea typeface="Arial" panose="020B0604020202020204" pitchFamily="34" charset="0"/>
            </a:endParaRPr>
          </a:p>
        </p:txBody>
      </p:sp>
      <p:sp>
        <p:nvSpPr>
          <p:cNvPr id="16" name="TextBox 15"/>
          <p:cNvSpPr txBox="1"/>
          <p:nvPr/>
        </p:nvSpPr>
        <p:spPr>
          <a:xfrm>
            <a:off x="23468" y="895814"/>
            <a:ext cx="1153886" cy="523220"/>
          </a:xfrm>
          <a:prstGeom prst="rect">
            <a:avLst/>
          </a:prstGeom>
          <a:noFill/>
        </p:spPr>
        <p:txBody>
          <a:bodyPr wrap="square" rtlCol="0">
            <a:spAutoFit/>
          </a:bodyPr>
          <a:lstStyle/>
          <a:p>
            <a:pPr algn="ctr"/>
            <a:r>
              <a:rPr lang="en-IN" sz="1400" b="1" dirty="0">
                <a:solidFill>
                  <a:srgbClr val="000066"/>
                </a:solidFill>
                <a:latin typeface="Cambria" panose="02040503050406030204" pitchFamily="18" charset="0"/>
              </a:rPr>
              <a:t>Presidency College</a:t>
            </a:r>
            <a:endParaRPr lang="en-US" sz="1400" b="1" dirty="0">
              <a:solidFill>
                <a:srgbClr val="000066"/>
              </a:solidFill>
              <a:latin typeface="Cambria" panose="02040503050406030204" pitchFamily="18" charset="0"/>
            </a:endParaRPr>
          </a:p>
        </p:txBody>
      </p:sp>
      <p:pic>
        <p:nvPicPr>
          <p:cNvPr id="17" name="Picture 16"/>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t="2112" b="-1"/>
          <a:stretch/>
        </p:blipFill>
        <p:spPr>
          <a:xfrm>
            <a:off x="148069" y="2209800"/>
            <a:ext cx="940281" cy="843164"/>
          </a:xfrm>
          <a:prstGeom prst="rect">
            <a:avLst/>
          </a:prstGeom>
        </p:spPr>
      </p:pic>
      <p:cxnSp>
        <p:nvCxnSpPr>
          <p:cNvPr id="28" name="Straight Connector 27"/>
          <p:cNvCxnSpPr/>
          <p:nvPr/>
        </p:nvCxnSpPr>
        <p:spPr>
          <a:xfrm>
            <a:off x="0" y="6629738"/>
            <a:ext cx="148069" cy="676"/>
          </a:xfrm>
          <a:prstGeom prst="line">
            <a:avLst/>
          </a:prstGeom>
          <a:ln w="228600">
            <a:solidFill>
              <a:srgbClr val="00005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70548585"/>
      </p:ext>
    </p:extLst>
  </p:cSld>
  <p:clrMap bg1="lt1" tx1="dk1" bg2="lt2" tx2="dk2" accent1="accent1" accent2="accent2" accent3="accent3" accent4="accent4" accent5="accent5" accent6="accent6" hlink="hlink" folHlink="folHlink"/>
  <p:sldLayoutIdLst>
    <p:sldLayoutId id="2147483670" r:id="rId1"/>
    <p:sldLayoutId id="2147483671" r:id="rId2"/>
  </p:sldLayoutIdLst>
  <p:hf sldNum="0" hdr="0" ftr="0" dt="0"/>
  <p:txStyles>
    <p:titleStyle>
      <a:lvl1pPr algn="l" defTabSz="914400" rtl="0" eaLnBrk="1" latinLnBrk="0" hangingPunct="1">
        <a:spcBef>
          <a:spcPct val="0"/>
        </a:spcBef>
        <a:buNone/>
        <a:defRPr sz="3600" b="1" kern="1200">
          <a:solidFill>
            <a:srgbClr val="000051"/>
          </a:solidFill>
          <a:latin typeface="Cambria" panose="020405030504060302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mbria" panose="02040503050406030204"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mbria" panose="02040503050406030204"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mbria" panose="0204050305040603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6EB6D3-232D-4F15-9314-AD9755018A74}"/>
              </a:ext>
            </a:extLst>
          </p:cNvPr>
          <p:cNvSpPr>
            <a:spLocks noGrp="1"/>
          </p:cNvSpPr>
          <p:nvPr>
            <p:ph type="ctrTitle"/>
          </p:nvPr>
        </p:nvSpPr>
        <p:spPr>
          <a:xfrm>
            <a:off x="1227977" y="1175656"/>
            <a:ext cx="7916023" cy="1576874"/>
          </a:xfrm>
        </p:spPr>
        <p:txBody>
          <a:bodyPr>
            <a:normAutofit fontScale="90000"/>
          </a:bodyPr>
          <a:lstStyle/>
          <a:p>
            <a:pPr algn="ctr"/>
            <a:r>
              <a:rPr lang="en-US" dirty="0" smtClean="0">
                <a:latin typeface="Gill Sans MT"/>
                <a:ea typeface="Cambria"/>
              </a:rPr>
              <a:t>MCA Final Year Project</a:t>
            </a:r>
            <a:br>
              <a:rPr lang="en-US" dirty="0" smtClean="0">
                <a:latin typeface="Gill Sans MT"/>
                <a:ea typeface="Cambria"/>
              </a:rPr>
            </a:br>
            <a:r>
              <a:rPr lang="en-US" dirty="0" smtClean="0">
                <a:latin typeface="Gill Sans MT"/>
                <a:ea typeface="Cambria"/>
              </a:rPr>
              <a:t> Title:</a:t>
            </a:r>
            <a:r>
              <a:rPr lang="en-US" dirty="0" smtClean="0">
                <a:ea typeface="Cambria"/>
              </a:rPr>
              <a:t> </a:t>
            </a:r>
            <a:r>
              <a:rPr lang="en-US" sz="3100" u="sng" dirty="0" smtClean="0">
                <a:ea typeface="Cambria"/>
              </a:rPr>
              <a:t>Twitter(X) Sentiment Analysis Using Neural Networks.</a:t>
            </a:r>
            <a:endParaRPr lang="en-IN" sz="3100" u="sng" dirty="0">
              <a:latin typeface="Gill Sans MT"/>
              <a:ea typeface="Cambria"/>
            </a:endParaRPr>
          </a:p>
        </p:txBody>
      </p:sp>
      <p:sp>
        <p:nvSpPr>
          <p:cNvPr id="3" name="Subtitle 2">
            <a:extLst>
              <a:ext uri="{FF2B5EF4-FFF2-40B4-BE49-F238E27FC236}">
                <a16:creationId xmlns:a16="http://schemas.microsoft.com/office/drawing/2014/main" xmlns="" id="{4A942169-089C-45D9-9F11-369806424580}"/>
              </a:ext>
            </a:extLst>
          </p:cNvPr>
          <p:cNvSpPr>
            <a:spLocks noGrp="1"/>
          </p:cNvSpPr>
          <p:nvPr>
            <p:ph type="subTitle" idx="1"/>
          </p:nvPr>
        </p:nvSpPr>
        <p:spPr>
          <a:xfrm>
            <a:off x="1227977" y="2992574"/>
            <a:ext cx="7916023" cy="1961981"/>
          </a:xfrm>
        </p:spPr>
        <p:txBody>
          <a:bodyPr>
            <a:normAutofit lnSpcReduction="10000"/>
          </a:bodyPr>
          <a:lstStyle/>
          <a:p>
            <a:r>
              <a:rPr lang="en-US" sz="2800" dirty="0" smtClean="0">
                <a:latin typeface="+mj-lt"/>
                <a:ea typeface="Cambria"/>
              </a:rPr>
              <a:t>Student Name: SHIVAPRAKASH.D.M</a:t>
            </a:r>
          </a:p>
          <a:p>
            <a:r>
              <a:rPr lang="en-US" sz="2800" dirty="0" smtClean="0">
                <a:latin typeface="+mj-lt"/>
                <a:ea typeface="Cambria"/>
              </a:rPr>
              <a:t>Register Number:22P01190</a:t>
            </a:r>
          </a:p>
          <a:p>
            <a:endParaRPr lang="en-US" sz="2800" dirty="0">
              <a:latin typeface="+mj-lt"/>
              <a:ea typeface="Cambria"/>
            </a:endParaRPr>
          </a:p>
          <a:p>
            <a:r>
              <a:rPr lang="en-US" sz="2800" dirty="0" smtClean="0">
                <a:latin typeface="+mj-lt"/>
                <a:ea typeface="Cambria"/>
              </a:rPr>
              <a:t>Guide Name: </a:t>
            </a:r>
            <a:r>
              <a:rPr lang="en-US" sz="2800" dirty="0" err="1" smtClean="0">
                <a:latin typeface="+mj-lt"/>
                <a:ea typeface="Cambria"/>
              </a:rPr>
              <a:t>Ms.Uma</a:t>
            </a:r>
            <a:r>
              <a:rPr lang="en-US" sz="2800" dirty="0" smtClean="0">
                <a:latin typeface="+mj-lt"/>
                <a:ea typeface="Cambria"/>
              </a:rPr>
              <a:t> </a:t>
            </a:r>
            <a:r>
              <a:rPr lang="en-US" sz="2800" dirty="0" err="1" smtClean="0">
                <a:latin typeface="+mj-lt"/>
                <a:ea typeface="Cambria"/>
              </a:rPr>
              <a:t>Mageswari</a:t>
            </a:r>
            <a:endParaRPr lang="en-IN" sz="2800" dirty="0">
              <a:latin typeface="+mj-lt"/>
              <a:ea typeface="Cambria"/>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54389" y="173659"/>
            <a:ext cx="5402263" cy="950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651577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B0ED39-939F-81D6-4F09-64F5DEBA9DB6}"/>
              </a:ext>
            </a:extLst>
          </p:cNvPr>
          <p:cNvSpPr>
            <a:spLocks noGrp="1"/>
          </p:cNvSpPr>
          <p:nvPr>
            <p:ph type="title"/>
          </p:nvPr>
        </p:nvSpPr>
        <p:spPr>
          <a:xfrm>
            <a:off x="1219200" y="228600"/>
            <a:ext cx="7923602" cy="838200"/>
          </a:xfrm>
        </p:spPr>
        <p:txBody>
          <a:bodyPr>
            <a:normAutofit/>
          </a:bodyPr>
          <a:lstStyle/>
          <a:p>
            <a:pPr algn="ctr"/>
            <a:r>
              <a:rPr lang="en-US" dirty="0" smtClean="0">
                <a:ea typeface="Cambria"/>
              </a:rPr>
              <a:t>CONTENTS</a:t>
            </a:r>
            <a:endParaRPr lang="en-US" dirty="0">
              <a:ea typeface="Cambria"/>
            </a:endParaRPr>
          </a:p>
        </p:txBody>
      </p:sp>
      <p:sp>
        <p:nvSpPr>
          <p:cNvPr id="3" name="Content Placeholder 2">
            <a:extLst>
              <a:ext uri="{FF2B5EF4-FFF2-40B4-BE49-F238E27FC236}">
                <a16:creationId xmlns:a16="http://schemas.microsoft.com/office/drawing/2014/main" xmlns="" id="{90B61F3D-0CC1-BF7A-AE5E-97E6DB36AFDC}"/>
              </a:ext>
            </a:extLst>
          </p:cNvPr>
          <p:cNvSpPr>
            <a:spLocks noGrp="1"/>
          </p:cNvSpPr>
          <p:nvPr>
            <p:ph idx="1"/>
          </p:nvPr>
        </p:nvSpPr>
        <p:spPr>
          <a:xfrm>
            <a:off x="1219200" y="1219201"/>
            <a:ext cx="7887695" cy="5281737"/>
          </a:xfrm>
        </p:spPr>
        <p:txBody>
          <a:bodyPr vert="horz" lIns="91440" tIns="45720" rIns="91440" bIns="45720" rtlCol="0" anchor="t">
            <a:normAutofit fontScale="92500" lnSpcReduction="10000"/>
          </a:bodyPr>
          <a:lstStyle/>
          <a:p>
            <a:pPr marL="0" indent="0">
              <a:buNone/>
            </a:pPr>
            <a:r>
              <a:rPr lang="en-US" dirty="0" smtClean="0">
                <a:latin typeface="+mj-lt"/>
                <a:ea typeface="Cambria" panose="02040503050406030204" pitchFamily="18" charset="0"/>
              </a:rPr>
              <a:t>1.Abstract</a:t>
            </a:r>
          </a:p>
          <a:p>
            <a:pPr marL="0" indent="0">
              <a:buNone/>
            </a:pPr>
            <a:r>
              <a:rPr lang="en-US" dirty="0" smtClean="0">
                <a:latin typeface="+mj-lt"/>
                <a:ea typeface="Cambria" panose="02040503050406030204" pitchFamily="18" charset="0"/>
              </a:rPr>
              <a:t>2.Introduction</a:t>
            </a:r>
          </a:p>
          <a:p>
            <a:pPr marL="0" indent="0">
              <a:buNone/>
            </a:pPr>
            <a:r>
              <a:rPr lang="en-US" dirty="0" smtClean="0">
                <a:latin typeface="+mj-lt"/>
                <a:ea typeface="Cambria" panose="02040503050406030204" pitchFamily="18" charset="0"/>
              </a:rPr>
              <a:t>3.present </a:t>
            </a:r>
            <a:r>
              <a:rPr lang="en-US" dirty="0">
                <a:latin typeface="+mj-lt"/>
                <a:ea typeface="Cambria" panose="02040503050406030204" pitchFamily="18" charset="0"/>
              </a:rPr>
              <a:t>and proposed system </a:t>
            </a:r>
            <a:endParaRPr lang="en-US" dirty="0" smtClean="0">
              <a:latin typeface="+mj-lt"/>
              <a:ea typeface="Cambria" panose="02040503050406030204" pitchFamily="18" charset="0"/>
            </a:endParaRPr>
          </a:p>
          <a:p>
            <a:pPr marL="0" indent="0">
              <a:buNone/>
            </a:pPr>
            <a:r>
              <a:rPr lang="en-US" dirty="0" smtClean="0">
                <a:latin typeface="+mj-lt"/>
                <a:ea typeface="Cambria" panose="02040503050406030204" pitchFamily="18" charset="0"/>
              </a:rPr>
              <a:t>4.tools</a:t>
            </a:r>
          </a:p>
          <a:p>
            <a:pPr marL="0" indent="0">
              <a:buNone/>
            </a:pPr>
            <a:r>
              <a:rPr lang="en-US" dirty="0" smtClean="0">
                <a:latin typeface="+mj-lt"/>
                <a:ea typeface="Cambria" panose="02040503050406030204" pitchFamily="18" charset="0"/>
              </a:rPr>
              <a:t>5.Requirements</a:t>
            </a:r>
          </a:p>
          <a:p>
            <a:pPr marL="0" indent="0">
              <a:buNone/>
            </a:pPr>
            <a:r>
              <a:rPr lang="en-US" dirty="0" smtClean="0">
                <a:latin typeface="+mj-lt"/>
                <a:ea typeface="Cambria" panose="02040503050406030204" pitchFamily="18" charset="0"/>
              </a:rPr>
              <a:t>6.module description</a:t>
            </a:r>
          </a:p>
          <a:p>
            <a:pPr marL="0" indent="0">
              <a:buNone/>
            </a:pPr>
            <a:r>
              <a:rPr lang="en-US" dirty="0" smtClean="0">
                <a:latin typeface="+mj-lt"/>
                <a:ea typeface="Cambria" panose="02040503050406030204" pitchFamily="18" charset="0"/>
              </a:rPr>
              <a:t>7.system design</a:t>
            </a:r>
          </a:p>
          <a:p>
            <a:pPr marL="0" indent="0">
              <a:buNone/>
            </a:pPr>
            <a:r>
              <a:rPr lang="en-US" dirty="0" smtClean="0">
                <a:latin typeface="+mj-lt"/>
                <a:ea typeface="Cambria" panose="02040503050406030204" pitchFamily="18" charset="0"/>
              </a:rPr>
              <a:t>8.Screen shots</a:t>
            </a:r>
          </a:p>
          <a:p>
            <a:pPr marL="0" indent="0">
              <a:buNone/>
            </a:pPr>
            <a:r>
              <a:rPr lang="en-US" dirty="0" smtClean="0">
                <a:latin typeface="+mj-lt"/>
                <a:ea typeface="Cambria" panose="02040503050406030204" pitchFamily="18" charset="0"/>
              </a:rPr>
              <a:t>9.future enhancement</a:t>
            </a:r>
          </a:p>
          <a:p>
            <a:pPr marL="0" indent="0">
              <a:buNone/>
            </a:pPr>
            <a:r>
              <a:rPr lang="en-US" dirty="0" smtClean="0">
                <a:latin typeface="+mj-lt"/>
                <a:ea typeface="Cambria" panose="02040503050406030204" pitchFamily="18" charset="0"/>
              </a:rPr>
              <a:t>10.conclusion</a:t>
            </a:r>
            <a:endParaRPr lang="en-US" dirty="0">
              <a:latin typeface="+mj-lt"/>
              <a:ea typeface="Cambria" panose="02040503050406030204" pitchFamily="18" charset="0"/>
            </a:endParaRPr>
          </a:p>
        </p:txBody>
      </p:sp>
    </p:spTree>
    <p:extLst>
      <p:ext uri="{BB962C8B-B14F-4D97-AF65-F5344CB8AC3E}">
        <p14:creationId xmlns:p14="http://schemas.microsoft.com/office/powerpoint/2010/main" xmlns="" val="1170033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1.Abstarct</a:t>
            </a:r>
            <a:endParaRPr lang="en-US" sz="3200" dirty="0"/>
          </a:p>
        </p:txBody>
      </p:sp>
      <p:sp>
        <p:nvSpPr>
          <p:cNvPr id="3" name="Content Placeholder 2"/>
          <p:cNvSpPr>
            <a:spLocks noGrp="1"/>
          </p:cNvSpPr>
          <p:nvPr>
            <p:ph idx="1"/>
          </p:nvPr>
        </p:nvSpPr>
        <p:spPr/>
        <p:txBody>
          <a:bodyPr>
            <a:normAutofit/>
          </a:bodyPr>
          <a:lstStyle/>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Sentiment analysis or opinion mining is the computational study of people's opinions, sentiments, attitudes, and emotions expressed in written language.</a:t>
            </a:r>
          </a:p>
          <a:p>
            <a:pPr algn="just"/>
            <a:r>
              <a:rPr lang="en-US" sz="2400" dirty="0" smtClean="0">
                <a:latin typeface="Times New Roman" pitchFamily="18" charset="0"/>
                <a:cs typeface="Times New Roman" pitchFamily="18" charset="0"/>
              </a:rPr>
              <a:t>It is one of the most active research areas in natural language processing and text mining in recent years.</a:t>
            </a:r>
          </a:p>
          <a:p>
            <a:pPr algn="just">
              <a:buNone/>
            </a:pPr>
            <a:endParaRPr lang="en-US" sz="2400" dirty="0" smtClean="0">
              <a:latin typeface="Times New Roman" pitchFamily="18" charset="0"/>
              <a:cs typeface="Times New Roman" pitchFamily="18" charset="0"/>
            </a:endParaRPr>
          </a:p>
        </p:txBody>
      </p:sp>
      <p:pic>
        <p:nvPicPr>
          <p:cNvPr id="4" name="Picture 3" descr="images.jpeg"/>
          <p:cNvPicPr>
            <a:picLocks noChangeAspect="1"/>
          </p:cNvPicPr>
          <p:nvPr/>
        </p:nvPicPr>
        <p:blipFill>
          <a:blip r:embed="rId2" cstate="print"/>
          <a:stretch>
            <a:fillRect/>
          </a:stretch>
        </p:blipFill>
        <p:spPr>
          <a:xfrm>
            <a:off x="3035042" y="3827625"/>
            <a:ext cx="4320072" cy="22310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t>2.INTRODUCTION</a:t>
            </a:r>
            <a:endParaRPr lang="en-US" sz="2800" dirty="0"/>
          </a:p>
        </p:txBody>
      </p:sp>
      <p:sp>
        <p:nvSpPr>
          <p:cNvPr id="3" name="Content Placeholder 2"/>
          <p:cNvSpPr>
            <a:spLocks noGrp="1"/>
          </p:cNvSpPr>
          <p:nvPr>
            <p:ph idx="1"/>
          </p:nvPr>
        </p:nvSpPr>
        <p:spPr/>
        <p:txBody>
          <a:bodyPr>
            <a:normAutofit/>
          </a:bodyPr>
          <a:lstStyle/>
          <a:p>
            <a:pPr algn="just"/>
            <a:r>
              <a:rPr lang="en-US" sz="2400" dirty="0" smtClean="0">
                <a:latin typeface="+mj-lt"/>
                <a:cs typeface="Times New Roman" pitchFamily="18" charset="0"/>
              </a:rPr>
              <a:t>Twitter sentiment analysis determines whether a tweet is positive, negative, or neutral. You can do it manually by analyzing each tweet and evaluating whether it is positive or negative.</a:t>
            </a:r>
          </a:p>
          <a:p>
            <a:pPr algn="just"/>
            <a:r>
              <a:rPr lang="en-US" sz="2400" dirty="0" smtClean="0">
                <a:latin typeface="+mj-lt"/>
              </a:rPr>
              <a:t>It uses natural language processing and machine learning algorithms to classify tweets automatically as positive, negative, or neutral based on their content.</a:t>
            </a:r>
          </a:p>
          <a:p>
            <a:pPr algn="just"/>
            <a:r>
              <a:rPr lang="en-US" sz="2400" dirty="0" smtClean="0">
                <a:latin typeface="+mj-lt"/>
              </a:rPr>
              <a:t>Sentiment analysis is used by data analysts in large companies to measure public opinion, track brand and product images, evaluate consumer experiences, and perform market research</a:t>
            </a:r>
          </a:p>
          <a:p>
            <a:pPr algn="just"/>
            <a:endParaRPr lang="en-US" sz="24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PRESENT AND PROPOSED SYSTEMS:</a:t>
            </a:r>
            <a:endParaRPr lang="en-US" dirty="0"/>
          </a:p>
        </p:txBody>
      </p:sp>
      <p:sp>
        <p:nvSpPr>
          <p:cNvPr id="3" name="Content Placeholder 2"/>
          <p:cNvSpPr>
            <a:spLocks noGrp="1"/>
          </p:cNvSpPr>
          <p:nvPr>
            <p:ph idx="1"/>
          </p:nvPr>
        </p:nvSpPr>
        <p:spPr/>
        <p:txBody>
          <a:bodyPr>
            <a:normAutofit/>
          </a:bodyPr>
          <a:lstStyle/>
          <a:p>
            <a:pPr algn="just">
              <a:buNone/>
            </a:pPr>
            <a:r>
              <a:rPr lang="en-US" sz="2800" b="1" u="sng" dirty="0" smtClean="0"/>
              <a:t>Present Systems:</a:t>
            </a:r>
          </a:p>
          <a:p>
            <a:pPr algn="just">
              <a:buNone/>
            </a:pPr>
            <a:endParaRPr lang="en-US" sz="2800" b="1" u="sng" dirty="0" smtClean="0"/>
          </a:p>
          <a:p>
            <a:pPr algn="just"/>
            <a:r>
              <a:rPr lang="en-US" sz="2000" dirty="0" smtClean="0"/>
              <a:t>Twitter Sentimental Analysis is used to identify as well as classify the sentiments that are expressed in the text source. </a:t>
            </a:r>
          </a:p>
          <a:p>
            <a:pPr algn="just"/>
            <a:r>
              <a:rPr lang="en-US" sz="2000" dirty="0" smtClean="0"/>
              <a:t>Logistic Regression ,Neural Network and Naive </a:t>
            </a:r>
            <a:r>
              <a:rPr lang="en-US" sz="2000" dirty="0" err="1" smtClean="0"/>
              <a:t>Bayes</a:t>
            </a:r>
            <a:r>
              <a:rPr lang="en-US" sz="2000" dirty="0" smtClean="0"/>
              <a:t> are some of the ML algorithms that can be used for Twitter Sentimental Analysis with Python.</a:t>
            </a:r>
          </a:p>
          <a:p>
            <a:pPr algn="just"/>
            <a:r>
              <a:rPr lang="en-US" sz="2000" dirty="0" smtClean="0"/>
              <a:t>Description of neural network models used, such as </a:t>
            </a:r>
            <a:r>
              <a:rPr lang="en-US" sz="2000" dirty="0" err="1" smtClean="0"/>
              <a:t>Convolutional</a:t>
            </a:r>
            <a:r>
              <a:rPr lang="en-US" sz="2000" dirty="0" smtClean="0"/>
              <a:t> Neural Networks (CNN), Recurrent Neural Networks (RNN), or Long Short-Term Memory (LSTM).</a:t>
            </a:r>
          </a:p>
          <a:p>
            <a:pPr algn="just"/>
            <a:r>
              <a:rPr lang="en-US" sz="2000" dirty="0" smtClean="0"/>
              <a:t>Highlight the importance of hyper parameter tuning (learning rate, batch size) to improve model performance.</a:t>
            </a:r>
            <a:endParaRPr lang="en-US" sz="2000" b="1"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idx="1"/>
          </p:nvPr>
        </p:nvSpPr>
        <p:spPr/>
        <p:txBody>
          <a:bodyPr>
            <a:normAutofit/>
          </a:bodyPr>
          <a:lstStyle/>
          <a:p>
            <a:pPr marL="457200" indent="-457200" algn="just">
              <a:buFont typeface="+mj-lt"/>
              <a:buAutoNum type="arabicPeriod"/>
            </a:pPr>
            <a:r>
              <a:rPr lang="en-US" sz="2200" b="1" dirty="0" smtClean="0"/>
              <a:t>Data Preprocessing and Feature Extraction:</a:t>
            </a:r>
            <a:endParaRPr lang="en-US" sz="2200" dirty="0" smtClean="0"/>
          </a:p>
          <a:p>
            <a:pPr algn="just"/>
            <a:r>
              <a:rPr lang="en-US" sz="2200" dirty="0" smtClean="0"/>
              <a:t>Clean and tokenize tweets (removal of noise like special characters, URLs, and stop words).</a:t>
            </a:r>
          </a:p>
          <a:p>
            <a:pPr marL="457200" indent="-457200" algn="just">
              <a:buFont typeface="+mj-lt"/>
              <a:buAutoNum type="arabicPeriod" startAt="2"/>
            </a:pPr>
            <a:r>
              <a:rPr lang="en-US" sz="2200" b="1" dirty="0" smtClean="0"/>
              <a:t>Training and Fine-Tuning the Model</a:t>
            </a:r>
            <a:endParaRPr lang="en-US" sz="2200" dirty="0" smtClean="0"/>
          </a:p>
          <a:p>
            <a:pPr algn="just"/>
            <a:r>
              <a:rPr lang="en-US" sz="2200" dirty="0" smtClean="0"/>
              <a:t>Split the dataset into training, validation, and testing sets.</a:t>
            </a:r>
          </a:p>
          <a:p>
            <a:pPr algn="just"/>
            <a:r>
              <a:rPr lang="en-US" sz="2200" dirty="0" smtClean="0"/>
              <a:t>Use techniques like batch normalization, dropout, and hyper parameter tuning (learning rate, batch size) to optimize model performance.</a:t>
            </a:r>
          </a:p>
          <a:p>
            <a:pPr marL="457200" indent="-457200" algn="just">
              <a:buFont typeface="+mj-lt"/>
              <a:buAutoNum type="arabicPeriod" startAt="3"/>
            </a:pPr>
            <a:r>
              <a:rPr lang="en-US" sz="2200" b="1" dirty="0" smtClean="0"/>
              <a:t>Evaluation and Performance Metrics</a:t>
            </a:r>
            <a:endParaRPr lang="en-US" sz="2200" dirty="0" smtClean="0"/>
          </a:p>
          <a:p>
            <a:pPr algn="just"/>
            <a:r>
              <a:rPr lang="en-US" sz="2200" dirty="0" smtClean="0"/>
              <a:t>Measure accuracy, precision, recall, and F1-score for model evaluation.</a:t>
            </a:r>
          </a:p>
          <a:p>
            <a:pPr algn="just"/>
            <a:r>
              <a:rPr lang="en-US" sz="2200" dirty="0" smtClean="0"/>
              <a:t>Use confusion matrix and ROC curve to visualize model performance.</a:t>
            </a:r>
          </a:p>
          <a:p>
            <a:pPr algn="just"/>
            <a:endParaRPr lang="en-US" sz="24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dirty="0" smtClean="0"/>
              <a:t>4.Tools:</a:t>
            </a:r>
            <a:endParaRPr lang="en-US" sz="3600"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Pandas</a:t>
            </a:r>
          </a:p>
          <a:p>
            <a:pPr marL="514350" indent="-514350">
              <a:buFont typeface="+mj-lt"/>
              <a:buAutoNum type="arabicPeriod"/>
            </a:pPr>
            <a:r>
              <a:rPr lang="en-US" dirty="0" err="1" smtClean="0"/>
              <a:t>Numpy</a:t>
            </a:r>
            <a:endParaRPr lang="en-US" dirty="0" smtClean="0"/>
          </a:p>
          <a:p>
            <a:pPr marL="514350" indent="-514350">
              <a:buFont typeface="+mj-lt"/>
              <a:buAutoNum type="arabicPeriod"/>
            </a:pPr>
            <a:r>
              <a:rPr lang="en-US" dirty="0" err="1" smtClean="0"/>
              <a:t>Matplotlib</a:t>
            </a:r>
            <a:r>
              <a:rPr lang="en-US" dirty="0" smtClean="0"/>
              <a:t> and </a:t>
            </a:r>
            <a:r>
              <a:rPr lang="en-US" dirty="0" err="1" smtClean="0"/>
              <a:t>Seaborn</a:t>
            </a:r>
            <a:endParaRPr lang="en-US" dirty="0" smtClean="0"/>
          </a:p>
          <a:p>
            <a:pPr marL="514350" indent="-514350">
              <a:buFont typeface="+mj-lt"/>
              <a:buAutoNum type="arabicPeriod"/>
            </a:pPr>
            <a:r>
              <a:rPr lang="en-US" dirty="0" smtClean="0"/>
              <a:t>Sci-kit Learn.</a:t>
            </a:r>
          </a:p>
          <a:p>
            <a:pPr marL="514350" indent="-514350">
              <a:buFont typeface="+mj-lt"/>
              <a:buAutoNum type="arabicPeriod"/>
            </a:pPr>
            <a:r>
              <a:rPr lang="en-US" dirty="0" err="1" smtClean="0"/>
              <a:t>Tensorflow</a:t>
            </a:r>
            <a:r>
              <a:rPr lang="en-US" dirty="0" smtClean="0"/>
              <a:t> and </a:t>
            </a:r>
            <a:r>
              <a:rPr lang="en-US" dirty="0" err="1" smtClean="0"/>
              <a:t>Keras</a:t>
            </a:r>
            <a:endParaRPr lang="en-US" dirty="0" smtClean="0"/>
          </a:p>
          <a:p>
            <a:pPr marL="514350" indent="-514350">
              <a:buFont typeface="+mj-lt"/>
              <a:buAutoNum type="arabicPeriod"/>
            </a:pPr>
            <a:r>
              <a:rPr lang="en-US" dirty="0" smtClean="0"/>
              <a:t>Natural Language Toolkit</a:t>
            </a:r>
          </a:p>
          <a:p>
            <a:pPr marL="514350" indent="-514350">
              <a:buFont typeface="+mj-lt"/>
              <a:buAutoNum type="arabicPeriod"/>
            </a:pPr>
            <a:r>
              <a:rPr lang="en-US" dirty="0" smtClean="0"/>
              <a:t>Flask</a:t>
            </a:r>
          </a:p>
          <a:p>
            <a:pPr marL="514350" indent="-514350">
              <a:buFont typeface="+mj-lt"/>
              <a:buAutoNum type="arabicPeriod"/>
            </a:pPr>
            <a:r>
              <a:rPr lang="en-US" dirty="0" smtClean="0"/>
              <a:t>Front End Technology(HTML5,CSS3)</a:t>
            </a:r>
          </a:p>
          <a:p>
            <a:pPr marL="514350" indent="-51435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5. Requirements</a:t>
            </a:r>
            <a:endParaRPr lang="en-US" sz="3200" dirty="0"/>
          </a:p>
        </p:txBody>
      </p:sp>
      <p:graphicFrame>
        <p:nvGraphicFramePr>
          <p:cNvPr id="5" name="Content Placeholder 4"/>
          <p:cNvGraphicFramePr>
            <a:graphicFrameLocks noGrp="1"/>
          </p:cNvGraphicFramePr>
          <p:nvPr>
            <p:ph idx="1"/>
          </p:nvPr>
        </p:nvGraphicFramePr>
        <p:xfrm>
          <a:off x="1321837" y="1452465"/>
          <a:ext cx="7696200" cy="4659090"/>
        </p:xfrm>
        <a:graphic>
          <a:graphicData uri="http://schemas.openxmlformats.org/drawingml/2006/table">
            <a:tbl>
              <a:tblPr firstRow="1" bandRow="1">
                <a:tableStyleId>{3C2FFA5D-87B4-456A-9821-1D502468CF0F}</a:tableStyleId>
              </a:tblPr>
              <a:tblGrid>
                <a:gridCol w="3848100"/>
                <a:gridCol w="3848100"/>
              </a:tblGrid>
              <a:tr h="428043">
                <a:tc gridSpan="2">
                  <a:txBody>
                    <a:bodyPr/>
                    <a:lstStyle/>
                    <a:p>
                      <a:pPr marL="0" marR="0" algn="ctr">
                        <a:spcBef>
                          <a:spcPts val="0"/>
                        </a:spcBef>
                        <a:spcAft>
                          <a:spcPts val="0"/>
                        </a:spcAft>
                      </a:pPr>
                      <a:r>
                        <a:rPr lang="en-US" sz="2000" dirty="0">
                          <a:solidFill>
                            <a:schemeClr val="tx1"/>
                          </a:solidFill>
                        </a:rPr>
                        <a:t>HARDWARE</a:t>
                      </a:r>
                      <a:endParaRPr lang="en-US" sz="1400" dirty="0">
                        <a:solidFill>
                          <a:schemeClr val="tx1"/>
                        </a:solidFill>
                        <a:latin typeface="Times New Roman"/>
                      </a:endParaRPr>
                    </a:p>
                  </a:txBody>
                  <a:tcPr marL="68580" marR="68580" anchor="ctr">
                    <a:solidFill>
                      <a:schemeClr val="accent2">
                        <a:lumMod val="40000"/>
                        <a:lumOff val="60000"/>
                      </a:schemeClr>
                    </a:solidFill>
                  </a:tcPr>
                </a:tc>
                <a:tc hMerge="1">
                  <a:txBody>
                    <a:bodyPr/>
                    <a:lstStyle/>
                    <a:p>
                      <a:endParaRPr lang="en-US"/>
                    </a:p>
                  </a:txBody>
                  <a:tcPr/>
                </a:tc>
              </a:tr>
              <a:tr h="625602">
                <a:tc>
                  <a:txBody>
                    <a:bodyPr/>
                    <a:lstStyle/>
                    <a:p>
                      <a:pPr marL="0" marR="0" algn="ctr">
                        <a:spcBef>
                          <a:spcPts val="0"/>
                        </a:spcBef>
                        <a:spcAft>
                          <a:spcPts val="0"/>
                        </a:spcAft>
                      </a:pPr>
                      <a:r>
                        <a:rPr lang="en-US" sz="1600" dirty="0"/>
                        <a:t>Processor</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pt-BR" sz="1600"/>
                        <a:t>Intel(R) Core(TM) i5-8365U CPU @ 1.60GHz   1.90 GHz</a:t>
                      </a:r>
                      <a:endParaRPr lang="pt-BR" sz="1100" b="1">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RAM</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8GB</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HDD</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512GB</a:t>
                      </a:r>
                      <a:endParaRPr lang="en-US" sz="1100" b="1" dirty="0">
                        <a:latin typeface="Times New Roman" pitchFamily="18" charset="0"/>
                        <a:cs typeface="Times New Roman" pitchFamily="18" charset="0"/>
                      </a:endParaRPr>
                    </a:p>
                  </a:txBody>
                  <a:tcPr marL="68580" marR="68580" anchor="ctr"/>
                </a:tc>
              </a:tr>
              <a:tr h="400605">
                <a:tc gridSpan="2">
                  <a:txBody>
                    <a:bodyPr/>
                    <a:lstStyle/>
                    <a:p>
                      <a:pPr marL="0" marR="0" algn="ctr">
                        <a:spcBef>
                          <a:spcPts val="0"/>
                        </a:spcBef>
                        <a:spcAft>
                          <a:spcPts val="0"/>
                        </a:spcAft>
                      </a:pPr>
                      <a:r>
                        <a:rPr lang="en-US" sz="1800" b="1" dirty="0" smtClean="0"/>
                        <a:t>SOFTWARE</a:t>
                      </a:r>
                      <a:endParaRPr lang="en-US" sz="1200" b="1" dirty="0">
                        <a:latin typeface="Times New Roman" pitchFamily="18" charset="0"/>
                        <a:cs typeface="Times New Roman" pitchFamily="18" charset="0"/>
                      </a:endParaRPr>
                    </a:p>
                  </a:txBody>
                  <a:tcPr marL="68580" marR="68580" anchor="ctr">
                    <a:solidFill>
                      <a:schemeClr val="accent2">
                        <a:lumMod val="40000"/>
                        <a:lumOff val="60000"/>
                      </a:schemeClr>
                    </a:solidFill>
                  </a:tcPr>
                </a:tc>
                <a:tc hMerge="1">
                  <a:txBody>
                    <a:bodyPr/>
                    <a:lstStyle/>
                    <a:p>
                      <a:endParaRPr lang="en-US"/>
                    </a:p>
                  </a:txBody>
                  <a:tcPr/>
                </a:tc>
              </a:tr>
              <a:tr h="400605">
                <a:tc>
                  <a:txBody>
                    <a:bodyPr/>
                    <a:lstStyle/>
                    <a:p>
                      <a:pPr marL="0" marR="0" algn="ctr">
                        <a:spcBef>
                          <a:spcPts val="0"/>
                        </a:spcBef>
                        <a:spcAft>
                          <a:spcPts val="0"/>
                        </a:spcAft>
                      </a:pPr>
                      <a:r>
                        <a:rPr lang="en-US" sz="1600" dirty="0"/>
                        <a:t>CLIENT SIDE TECHNOLOGIES</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HTML, </a:t>
                      </a:r>
                      <a:r>
                        <a:rPr lang="en-US" sz="1600" dirty="0" smtClean="0"/>
                        <a:t>CSS</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SERVER SIDE TECHNOLOGIES</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PYTHON</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DATABASE</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WEB SERVER</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RSET API</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IDE</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Visual Studio Code</a:t>
                      </a:r>
                      <a:endParaRPr lang="en-US" sz="1100" b="1" dirty="0">
                        <a:latin typeface="Times New Roman" pitchFamily="18" charset="0"/>
                        <a:cs typeface="Times New Roman" pitchFamily="18" charset="0"/>
                      </a:endParaRPr>
                    </a:p>
                  </a:txBody>
                  <a:tcPr marL="68580" marR="68580" anchor="ctr"/>
                </a:tc>
              </a:tr>
              <a:tr h="400605">
                <a:tc>
                  <a:txBody>
                    <a:bodyPr/>
                    <a:lstStyle/>
                    <a:p>
                      <a:pPr marL="0" marR="0" algn="ctr">
                        <a:spcBef>
                          <a:spcPts val="0"/>
                        </a:spcBef>
                        <a:spcAft>
                          <a:spcPts val="0"/>
                        </a:spcAft>
                      </a:pPr>
                      <a:r>
                        <a:rPr lang="en-US" sz="1600" dirty="0"/>
                        <a:t>    TESTING &amp; BUILD TOOLS</a:t>
                      </a:r>
                      <a:endParaRPr lang="en-US" sz="1100" b="1" dirty="0">
                        <a:latin typeface="Times New Roman" pitchFamily="18" charset="0"/>
                        <a:cs typeface="Times New Roman" pitchFamily="18" charset="0"/>
                      </a:endParaRPr>
                    </a:p>
                  </a:txBody>
                  <a:tcPr marL="68580" marR="68580" anchor="ctr"/>
                </a:tc>
                <a:tc>
                  <a:txBody>
                    <a:bodyPr/>
                    <a:lstStyle/>
                    <a:p>
                      <a:pPr marL="0" marR="0" algn="ctr">
                        <a:spcBef>
                          <a:spcPts val="0"/>
                        </a:spcBef>
                        <a:spcAft>
                          <a:spcPts val="0"/>
                        </a:spcAft>
                      </a:pPr>
                      <a:r>
                        <a:rPr lang="en-US" sz="1600" dirty="0"/>
                        <a:t>-</a:t>
                      </a:r>
                      <a:endParaRPr lang="en-US" sz="1100" b="1" dirty="0">
                        <a:latin typeface="Times New Roman" pitchFamily="18" charset="0"/>
                        <a:cs typeface="Times New Roman" pitchFamily="18" charset="0"/>
                      </a:endParaRPr>
                    </a:p>
                  </a:txBody>
                  <a:tcPr marL="68580" marR="6858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ea typeface="Cambria" panose="02040503050406030204" pitchFamily="18" charset="0"/>
              </a:rPr>
              <a:t>		6.Module Description.</a:t>
            </a:r>
            <a:endParaRPr lang="en-US" sz="3200" dirty="0">
              <a:latin typeface="+mj-lt"/>
            </a:endParaRPr>
          </a:p>
        </p:txBody>
      </p:sp>
      <p:sp>
        <p:nvSpPr>
          <p:cNvPr id="3" name="Content Placeholder 2"/>
          <p:cNvSpPr>
            <a:spLocks noGrp="1"/>
          </p:cNvSpPr>
          <p:nvPr>
            <p:ph idx="1"/>
          </p:nvPr>
        </p:nvSpPr>
        <p:spPr/>
        <p:txBody>
          <a:bodyPr>
            <a:normAutofit/>
          </a:bodyPr>
          <a:lstStyle/>
          <a:p>
            <a:pPr algn="just">
              <a:buNone/>
            </a:pPr>
            <a:r>
              <a:rPr lang="en-US" sz="2000" b="1" dirty="0" smtClean="0"/>
              <a:t>1. Data Collection and Preprocessing Module:</a:t>
            </a:r>
            <a:endParaRPr lang="en-US" sz="2000" dirty="0" smtClean="0"/>
          </a:p>
          <a:p>
            <a:pPr algn="just"/>
            <a:r>
              <a:rPr lang="en-US" sz="2000" dirty="0" smtClean="0"/>
              <a:t>Collects tweets via the Twitter Dataset, cleans data (removes noise), and converts text into tokenized/ </a:t>
            </a:r>
            <a:r>
              <a:rPr lang="en-US" sz="2000" dirty="0" err="1" smtClean="0"/>
              <a:t>vectorized</a:t>
            </a:r>
            <a:r>
              <a:rPr lang="en-US" sz="2000" dirty="0" smtClean="0"/>
              <a:t> formats using techniques like word embeddings.</a:t>
            </a:r>
          </a:p>
          <a:p>
            <a:pPr algn="just">
              <a:buNone/>
            </a:pPr>
            <a:r>
              <a:rPr lang="en-US" sz="2000" b="1" dirty="0" smtClean="0"/>
              <a:t>2. Sentiment Classification and Evaluation Module:</a:t>
            </a:r>
            <a:endParaRPr lang="en-US" sz="2000" dirty="0" smtClean="0"/>
          </a:p>
          <a:p>
            <a:pPr algn="just"/>
            <a:r>
              <a:rPr lang="en-US" sz="2000" dirty="0" smtClean="0"/>
              <a:t>Classifies sentiments using neural networks and evaluates model performance with metrics like accuracy, precision, and confusion matrices.</a:t>
            </a:r>
          </a:p>
          <a:p>
            <a:pPr algn="just">
              <a:buNone/>
            </a:pPr>
            <a:r>
              <a:rPr lang="en-US" sz="2000" dirty="0" smtClean="0"/>
              <a:t>3. </a:t>
            </a:r>
            <a:r>
              <a:rPr lang="en-US" sz="2000" b="1" dirty="0" smtClean="0"/>
              <a:t>Model Training and Optimization Module:</a:t>
            </a:r>
          </a:p>
          <a:p>
            <a:pPr algn="just"/>
            <a:r>
              <a:rPr lang="en-US" sz="2000" dirty="0" smtClean="0"/>
              <a:t>Trains the neural network model on the preprocessed data, optimizing using techniques like </a:t>
            </a:r>
            <a:r>
              <a:rPr lang="en-US" sz="2000" dirty="0" err="1" smtClean="0"/>
              <a:t>hyperparameter</a:t>
            </a:r>
            <a:r>
              <a:rPr lang="en-US" sz="2000" dirty="0" smtClean="0"/>
              <a:t> tuning, dropout, and batch normalization to improve accuracy and prevent </a:t>
            </a:r>
            <a:r>
              <a:rPr lang="en-US" sz="2000" dirty="0" err="1" smtClean="0"/>
              <a:t>overfitting</a:t>
            </a:r>
            <a:r>
              <a:rPr lang="en-US" sz="2000" dirty="0" smtClean="0"/>
              <a:t>.</a:t>
            </a:r>
          </a:p>
          <a:p>
            <a:pPr algn="just">
              <a:buNone/>
            </a:pPr>
            <a:endParaRPr lang="en-US" sz="2000" dirty="0" smtClean="0"/>
          </a:p>
          <a:p>
            <a:pPr algn="just"/>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7.SYSTEM DESIGN</a:t>
            </a:r>
            <a:endParaRPr lang="en-US" dirty="0"/>
          </a:p>
        </p:txBody>
      </p:sp>
      <p:sp>
        <p:nvSpPr>
          <p:cNvPr id="3" name="Content Placeholder 2"/>
          <p:cNvSpPr>
            <a:spLocks noGrp="1"/>
          </p:cNvSpPr>
          <p:nvPr>
            <p:ph idx="1"/>
          </p:nvPr>
        </p:nvSpPr>
        <p:spPr/>
        <p:txBody>
          <a:bodyPr/>
          <a:lstStyle/>
          <a:p>
            <a:r>
              <a:rPr lang="en-US" dirty="0" smtClean="0"/>
              <a:t>Data Flow Diagram</a:t>
            </a:r>
          </a:p>
          <a:p>
            <a:endParaRPr lang="en-US" dirty="0"/>
          </a:p>
        </p:txBody>
      </p:sp>
      <p:pic>
        <p:nvPicPr>
          <p:cNvPr id="4" name="Content Placeholder 3" descr="Multi-level aspect based sentiment classification of Twitter data: using  hybrid approach in deep learning [PeerJ]"/>
          <p:cNvPicPr>
            <a:picLocks noChangeAspect="1" noChangeArrowheads="1"/>
          </p:cNvPicPr>
          <p:nvPr/>
        </p:nvPicPr>
        <p:blipFill>
          <a:blip r:embed="rId2" cstate="print"/>
          <a:srcRect/>
          <a:stretch>
            <a:fillRect/>
          </a:stretch>
        </p:blipFill>
        <p:spPr>
          <a:xfrm>
            <a:off x="1631303" y="1972561"/>
            <a:ext cx="6531428" cy="396551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Content Placeholder 3" descr="Sentiment Analysis System Architecture | Download Scientific Diagram"/>
          <p:cNvPicPr>
            <a:picLocks noGrp="1" noChangeAspect="1" noChangeArrowheads="1"/>
          </p:cNvPicPr>
          <p:nvPr>
            <p:ph idx="1"/>
          </p:nvPr>
        </p:nvPicPr>
        <p:blipFill>
          <a:blip r:embed="rId2" cstate="print"/>
          <a:srcRect/>
          <a:stretch>
            <a:fillRect/>
          </a:stretch>
        </p:blipFill>
        <p:spPr>
          <a:xfrm>
            <a:off x="2546350" y="2407298"/>
            <a:ext cx="5041900" cy="2256777"/>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Diagram</a:t>
            </a:r>
            <a:endParaRPr lang="en-US" dirty="0"/>
          </a:p>
        </p:txBody>
      </p:sp>
      <p:pic>
        <p:nvPicPr>
          <p:cNvPr id="4" name="Picture 3" descr="A-block-diagram-of-sentiment-analysis-by-BERT"/>
          <p:cNvPicPr>
            <a:picLocks noChangeAspect="1" noChangeArrowheads="1"/>
          </p:cNvPicPr>
          <p:nvPr/>
        </p:nvPicPr>
        <p:blipFill>
          <a:blip r:embed="rId2" cstate="print"/>
          <a:srcRect/>
          <a:stretch>
            <a:fillRect/>
          </a:stretch>
        </p:blipFill>
        <p:spPr>
          <a:xfrm>
            <a:off x="1737360" y="2160905"/>
            <a:ext cx="5669280" cy="349344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8.  SCREENSHOTS</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000" b="1" u="sng" dirty="0" smtClean="0"/>
              <a:t>Distribution of Training Tweets:</a:t>
            </a:r>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r>
              <a:rPr lang="en-US" sz="2000" b="1" u="sng" dirty="0" smtClean="0"/>
              <a:t>Model Architecture:</a:t>
            </a:r>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Font typeface="+mj-lt"/>
              <a:buAutoNum type="arabicPeriod"/>
            </a:pPr>
            <a:endParaRPr lang="en-US" sz="2000" b="1" u="sng" dirty="0" smtClean="0"/>
          </a:p>
          <a:p>
            <a:pPr marL="514350" indent="-514350">
              <a:buNone/>
            </a:pPr>
            <a:endParaRPr lang="en-US" sz="2000" b="1" u="sng" dirty="0"/>
          </a:p>
        </p:txBody>
      </p:sp>
      <p:pic>
        <p:nvPicPr>
          <p:cNvPr id="4" name="Picture 3"/>
          <p:cNvPicPr>
            <a:picLocks noChangeAspect="1" noChangeArrowheads="1"/>
          </p:cNvPicPr>
          <p:nvPr/>
        </p:nvPicPr>
        <p:blipFill>
          <a:blip r:embed="rId2" cstate="print"/>
          <a:srcRect/>
          <a:stretch>
            <a:fillRect/>
          </a:stretch>
        </p:blipFill>
        <p:spPr>
          <a:xfrm>
            <a:off x="3001768" y="1616573"/>
            <a:ext cx="4073525" cy="2013035"/>
          </a:xfrm>
          <a:prstGeom prst="rect">
            <a:avLst/>
          </a:prstGeom>
          <a:noFill/>
          <a:ln w="9525">
            <a:noFill/>
            <a:miter lim="800000"/>
            <a:headEnd/>
            <a:tailEnd/>
          </a:ln>
        </p:spPr>
      </p:pic>
      <p:pic>
        <p:nvPicPr>
          <p:cNvPr id="6" name="Picture 5" descr="Screenshot 2024-10-06 190851.png"/>
          <p:cNvPicPr>
            <a:picLocks noChangeAspect="1"/>
          </p:cNvPicPr>
          <p:nvPr/>
        </p:nvPicPr>
        <p:blipFill>
          <a:blip r:embed="rId3" cstate="print"/>
          <a:stretch>
            <a:fillRect/>
          </a:stretch>
        </p:blipFill>
        <p:spPr>
          <a:xfrm>
            <a:off x="1380931" y="4170784"/>
            <a:ext cx="7025951" cy="22580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ACCURACY:</a:t>
            </a:r>
            <a:endParaRPr lang="en-US" dirty="0"/>
          </a:p>
        </p:txBody>
      </p:sp>
      <p:pic>
        <p:nvPicPr>
          <p:cNvPr id="4" name="Content Placeholder 3" descr="Screenshot 2024-10-06 191016.png"/>
          <p:cNvPicPr>
            <a:picLocks noGrp="1" noChangeAspect="1"/>
          </p:cNvPicPr>
          <p:nvPr>
            <p:ph idx="1"/>
          </p:nvPr>
        </p:nvPicPr>
        <p:blipFill>
          <a:blip r:embed="rId2" cstate="print"/>
          <a:stretch>
            <a:fillRect/>
          </a:stretch>
        </p:blipFill>
        <p:spPr>
          <a:xfrm>
            <a:off x="1578398" y="1092200"/>
            <a:ext cx="6876204" cy="2362200"/>
          </a:xfrm>
          <a:prstGeom prst="rect">
            <a:avLst/>
          </a:prstGeom>
        </p:spPr>
      </p:pic>
      <p:pic>
        <p:nvPicPr>
          <p:cNvPr id="5" name="Content Placeholder 3" descr="Screenshot 2024-10-06 191027.png"/>
          <p:cNvPicPr>
            <a:picLocks noChangeAspect="1"/>
          </p:cNvPicPr>
          <p:nvPr/>
        </p:nvPicPr>
        <p:blipFill>
          <a:blip r:embed="rId3" cstate="print"/>
          <a:stretch>
            <a:fillRect/>
          </a:stretch>
        </p:blipFill>
        <p:spPr>
          <a:xfrm>
            <a:off x="1845733" y="3657600"/>
            <a:ext cx="6544733" cy="29548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a:t>
            </a:r>
            <a:endParaRPr lang="en-US" dirty="0"/>
          </a:p>
        </p:txBody>
      </p:sp>
      <p:pic>
        <p:nvPicPr>
          <p:cNvPr id="4" name="Content Placeholder 3" descr="Screenshot 2024-10-06 191038.png"/>
          <p:cNvPicPr>
            <a:picLocks noGrp="1" noChangeAspect="1"/>
          </p:cNvPicPr>
          <p:nvPr>
            <p:ph idx="1"/>
          </p:nvPr>
        </p:nvPicPr>
        <p:blipFill>
          <a:blip r:embed="rId2" cstate="print"/>
          <a:stretch>
            <a:fillRect/>
          </a:stretch>
        </p:blipFill>
        <p:spPr>
          <a:xfrm>
            <a:off x="2430824" y="1219200"/>
            <a:ext cx="5272952" cy="5257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Positive Comment:</a:t>
            </a:r>
            <a:endParaRPr lang="en-US" dirty="0"/>
          </a:p>
        </p:txBody>
      </p:sp>
      <p:pic>
        <p:nvPicPr>
          <p:cNvPr id="4" name="Content Placeholder 3" descr="Screenshot 2024-10-06 195035.png"/>
          <p:cNvPicPr>
            <a:picLocks noGrp="1" noChangeAspect="1"/>
          </p:cNvPicPr>
          <p:nvPr>
            <p:ph idx="1"/>
          </p:nvPr>
        </p:nvPicPr>
        <p:blipFill>
          <a:blip r:embed="rId2" cstate="print"/>
          <a:stretch>
            <a:fillRect/>
          </a:stretch>
        </p:blipFill>
        <p:spPr>
          <a:xfrm>
            <a:off x="1219200" y="1696441"/>
            <a:ext cx="7696200" cy="430331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Negative Comment</a:t>
            </a:r>
            <a:endParaRPr lang="en-US" dirty="0"/>
          </a:p>
        </p:txBody>
      </p:sp>
      <p:pic>
        <p:nvPicPr>
          <p:cNvPr id="4" name="Content Placeholder 3" descr="Screenshot 2024-10-06 194944.png"/>
          <p:cNvPicPr>
            <a:picLocks noGrp="1" noChangeAspect="1"/>
          </p:cNvPicPr>
          <p:nvPr>
            <p:ph idx="1"/>
          </p:nvPr>
        </p:nvPicPr>
        <p:blipFill>
          <a:blip r:embed="rId2" cstate="print"/>
          <a:stretch>
            <a:fillRect/>
          </a:stretch>
        </p:blipFill>
        <p:spPr>
          <a:xfrm>
            <a:off x="1219200" y="1829424"/>
            <a:ext cx="7696200" cy="40373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Neutral Comment:</a:t>
            </a:r>
            <a:endParaRPr lang="en-US" dirty="0"/>
          </a:p>
        </p:txBody>
      </p:sp>
      <p:pic>
        <p:nvPicPr>
          <p:cNvPr id="4" name="Content Placeholder 3" descr="Screenshot 2024-10-06 195215.png"/>
          <p:cNvPicPr>
            <a:picLocks noGrp="1" noChangeAspect="1"/>
          </p:cNvPicPr>
          <p:nvPr>
            <p:ph idx="1"/>
          </p:nvPr>
        </p:nvPicPr>
        <p:blipFill>
          <a:blip r:embed="rId2" cstate="print"/>
          <a:stretch>
            <a:fillRect/>
          </a:stretch>
        </p:blipFill>
        <p:spPr>
          <a:xfrm>
            <a:off x="1219200" y="1658663"/>
            <a:ext cx="7696200" cy="43788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9. FUTURE ENHANCEMENT</a:t>
            </a:r>
            <a:endParaRPr lang="en-US" dirty="0"/>
          </a:p>
        </p:txBody>
      </p:sp>
      <p:sp>
        <p:nvSpPr>
          <p:cNvPr id="3" name="Content Placeholder 2"/>
          <p:cNvSpPr>
            <a:spLocks noGrp="1"/>
          </p:cNvSpPr>
          <p:nvPr>
            <p:ph idx="1"/>
          </p:nvPr>
        </p:nvSpPr>
        <p:spPr/>
        <p:txBody>
          <a:bodyPr>
            <a:noAutofit/>
          </a:bodyPr>
          <a:lstStyle/>
          <a:p>
            <a:pPr algn="just">
              <a:buNone/>
            </a:pPr>
            <a:r>
              <a:rPr lang="en-US" sz="1800" b="1" dirty="0" smtClean="0"/>
              <a:t>1.Real-time Sentiment Monitoring</a:t>
            </a:r>
          </a:p>
          <a:p>
            <a:pPr algn="just">
              <a:buNone/>
            </a:pPr>
            <a:r>
              <a:rPr lang="en-US" sz="1800" dirty="0" smtClean="0"/>
              <a:t>	Integrate real-time sentiment analysis by streaming live tweets using Twitter's API, enabling instant feedback and dynamic sentiment tracking for events or topics.</a:t>
            </a:r>
          </a:p>
          <a:p>
            <a:pPr algn="just">
              <a:buNone/>
            </a:pPr>
            <a:r>
              <a:rPr lang="en-US" sz="1800" b="1" dirty="0" smtClean="0"/>
              <a:t>2.Emotion Detection and Topic Classification</a:t>
            </a:r>
          </a:p>
          <a:p>
            <a:pPr algn="just">
              <a:buNone/>
            </a:pPr>
            <a:r>
              <a:rPr lang="en-US" sz="1800" dirty="0" smtClean="0"/>
              <a:t>	Incorporate emotion detection (e.g., joy, anger, sadness) to provide more granular insights into user sentiment. Additionally, implement topic modeling to group tweets into specific themes or discussions.</a:t>
            </a:r>
          </a:p>
          <a:p>
            <a:pPr algn="just">
              <a:buNone/>
            </a:pPr>
            <a:r>
              <a:rPr lang="en-US" sz="1800" b="1" dirty="0" smtClean="0"/>
              <a:t>3.Deployment as a Web-based Tool</a:t>
            </a:r>
          </a:p>
          <a:p>
            <a:pPr algn="just">
              <a:buNone/>
            </a:pPr>
            <a:r>
              <a:rPr lang="en-US" sz="1800" dirty="0" smtClean="0"/>
              <a:t>	Deploy the model as a full-fledged web application with a user-friendly dashboard, allowing users to visualize sentiment trends over time and filter tweets by sentiment, keyword, or date.</a:t>
            </a:r>
          </a:p>
          <a:p>
            <a:pPr algn="just">
              <a:buNone/>
            </a:pPr>
            <a:r>
              <a:rPr lang="en-US" sz="1800" dirty="0" smtClean="0"/>
              <a:t>4.</a:t>
            </a:r>
            <a:r>
              <a:rPr lang="en-US" sz="1800" b="1" dirty="0" smtClean="0"/>
              <a:t> Incorporation of </a:t>
            </a:r>
            <a:r>
              <a:rPr lang="en-US" sz="1800" b="1" dirty="0" smtClean="0"/>
              <a:t>Multi </a:t>
            </a:r>
            <a:r>
              <a:rPr lang="en-US" sz="1800" b="1" dirty="0" err="1" smtClean="0"/>
              <a:t>languge</a:t>
            </a:r>
            <a:r>
              <a:rPr lang="en-US" sz="1800" b="1" dirty="0" smtClean="0"/>
              <a:t> </a:t>
            </a:r>
            <a:r>
              <a:rPr lang="en-US" sz="1800" b="1" dirty="0" smtClean="0"/>
              <a:t>Sentiment Analysis</a:t>
            </a:r>
          </a:p>
          <a:p>
            <a:pPr algn="just">
              <a:buNone/>
            </a:pPr>
            <a:r>
              <a:rPr lang="en-US" sz="1800" dirty="0" smtClean="0"/>
              <a:t>	Extend the model to support sentiment analysis in multiple languages, expanding the tool's applicability to global markets and enhancing its versatility.</a:t>
            </a:r>
          </a:p>
          <a:p>
            <a:pPr algn="just">
              <a:buNone/>
            </a:pP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10. CONCLUSION</a:t>
            </a:r>
            <a:endParaRPr lang="en-US" dirty="0"/>
          </a:p>
        </p:txBody>
      </p:sp>
      <p:sp>
        <p:nvSpPr>
          <p:cNvPr id="3" name="Content Placeholder 2"/>
          <p:cNvSpPr>
            <a:spLocks noGrp="1"/>
          </p:cNvSpPr>
          <p:nvPr>
            <p:ph idx="1"/>
          </p:nvPr>
        </p:nvSpPr>
        <p:spPr/>
        <p:txBody>
          <a:bodyPr>
            <a:normAutofit/>
          </a:bodyPr>
          <a:lstStyle/>
          <a:p>
            <a:pPr algn="just">
              <a:buNone/>
            </a:pPr>
            <a:r>
              <a:rPr lang="en-US" sz="2000" dirty="0" smtClean="0"/>
              <a:t>		</a:t>
            </a:r>
          </a:p>
          <a:p>
            <a:pPr algn="just">
              <a:buNone/>
            </a:pPr>
            <a:r>
              <a:rPr lang="en-US" sz="2000" dirty="0" smtClean="0"/>
              <a:t>Twitter Sentiment Analysis using neural networks leverages deep learning techniques to automatically classify the sentiment expressed in tweets, typically as positive, negative, or neutral. By utilizing neural network models like LSTM or CNN, the project captures the contextual meaning of words and handles the complexity of human language more effectively than traditional methods. This analysis provides valuable insights into public opinion, brand perception, or social trends by analyzing large-scale tweet data. The project offers potential for real-time monitoring and can be expanded to include multilingual sentiment, making it a powerful tool for businesses, researchers, and social analysts.</a:t>
            </a:r>
            <a:endParaRPr lang="en-US" sz="2000" dirty="0"/>
          </a:p>
        </p:txBody>
      </p:sp>
    </p:spTree>
  </p:cSld>
  <p:clrMapOvr>
    <a:masterClrMapping/>
  </p:clrMapOvr>
</p:sld>
</file>

<file path=ppt/theme/theme1.xml><?xml version="1.0" encoding="utf-8"?>
<a:theme xmlns:a="http://schemas.openxmlformats.org/drawingml/2006/main" name="Presidency College Power poin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idency College Power point Theme" id="{DF8449EC-C1E2-4519-A9A2-D94D89149E90}" vid="{A049EB98-6D84-4335-B425-02D1EEEECD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 presidency</Template>
  <TotalTime>1669</TotalTime>
  <Words>381</Words>
  <Application>Microsoft Office PowerPoint</Application>
  <PresentationFormat>On-screen Show (4:3)</PresentationFormat>
  <Paragraphs>109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Presidency College Power point Theme</vt:lpstr>
      <vt:lpstr>MCA Final Year Project  Title: Twitter(X) Sentiment Analysis Using Neural Networks.</vt:lpstr>
      <vt:lpstr>CONTENTS</vt:lpstr>
      <vt:lpstr>1.Abstarct</vt:lpstr>
      <vt:lpstr>2.INTRODUCTION</vt:lpstr>
      <vt:lpstr>3. PRESENT AND PROPOSED SYSTEMS:</vt:lpstr>
      <vt:lpstr>Proposed System:</vt:lpstr>
      <vt:lpstr>4.Tools:</vt:lpstr>
      <vt:lpstr>5. Requirements</vt:lpstr>
      <vt:lpstr>  6.Module Description.</vt:lpstr>
      <vt:lpstr>7.SYSTEM DESIGN</vt:lpstr>
      <vt:lpstr>SYSTEM ARCHITECTURE</vt:lpstr>
      <vt:lpstr>Block Diagram</vt:lpstr>
      <vt:lpstr>8.  SCREENSHOTS</vt:lpstr>
      <vt:lpstr>ACCURACY:</vt:lpstr>
      <vt:lpstr>Confusion Matrix:</vt:lpstr>
      <vt:lpstr>Positive Comment:</vt:lpstr>
      <vt:lpstr>Negative Comment</vt:lpstr>
      <vt:lpstr>Neutral Comment:</vt:lpstr>
      <vt:lpstr>9. FUTURE ENHANCEMENT</vt:lpstr>
      <vt:lpstr>10.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Pranav Prakash</dc:creator>
  <cp:lastModifiedBy>DELL</cp:lastModifiedBy>
  <cp:revision>946</cp:revision>
  <dcterms:created xsi:type="dcterms:W3CDTF">2021-12-24T12:33:10Z</dcterms:created>
  <dcterms:modified xsi:type="dcterms:W3CDTF">2024-10-21T04:00:13Z</dcterms:modified>
</cp:coreProperties>
</file>